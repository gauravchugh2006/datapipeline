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29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2243687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983797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1850874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A10B8C-DE7A-4F8A-A26D-183BA5D4DA76}"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3589697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A10B8C-DE7A-4F8A-A26D-183BA5D4DA76}" type="datetimeFigureOut">
              <a:rPr lang="en-IN" smtClean="0"/>
              <a:t>23-11-2025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1471420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A10B8C-DE7A-4F8A-A26D-183BA5D4DA76}" type="datetimeFigureOut">
              <a:rPr lang="en-IN" smtClean="0"/>
              <a:t>23-11-2025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2969178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A10B8C-DE7A-4F8A-A26D-183BA5D4DA76}" type="datetimeFigureOut">
              <a:rPr lang="en-IN" smtClean="0"/>
              <a:t>23-11-2025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215672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A10B8C-DE7A-4F8A-A26D-183BA5D4DA76}"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2938064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1943F3-8F42-4E2D-9A9D-66160F9F154C}" type="slidenum">
              <a:rPr lang="en-IN" smtClean="0"/>
              <a:t>‹#›</a:t>
            </a:fld>
            <a:endParaRPr lang="en-IN"/>
          </a:p>
        </p:txBody>
      </p:sp>
      <p:sp>
        <p:nvSpPr>
          <p:cNvPr id="5" name="Date Placeholder 4"/>
          <p:cNvSpPr>
            <a:spLocks noGrp="1"/>
          </p:cNvSpPr>
          <p:nvPr>
            <p:ph type="dt" sz="half" idx="10"/>
          </p:nvPr>
        </p:nvSpPr>
        <p:spPr/>
        <p:txBody>
          <a:bodyPr/>
          <a:lstStyle/>
          <a:p>
            <a:fld id="{22A10B8C-DE7A-4F8A-A26D-183BA5D4DA76}" type="datetimeFigureOut">
              <a:rPr lang="en-IN" smtClean="0"/>
              <a:t>23-11-2025</a:t>
            </a:fld>
            <a:endParaRPr lang="en-IN"/>
          </a:p>
        </p:txBody>
      </p:sp>
    </p:spTree>
    <p:extLst>
      <p:ext uri="{BB962C8B-B14F-4D97-AF65-F5344CB8AC3E}">
        <p14:creationId xmlns:p14="http://schemas.microsoft.com/office/powerpoint/2010/main" val="1231272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3392727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693729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32332491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058227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4218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10397451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2391800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2A10B8C-DE7A-4F8A-A26D-183BA5D4DA76}" type="datetimeFigureOut">
              <a:rPr lang="en-IN" smtClean="0"/>
              <a:t>23-11-2025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11943F3-8F42-4E2D-9A9D-66160F9F154C}" type="slidenum">
              <a:rPr lang="en-IN" smtClean="0"/>
              <a:t>‹#›</a:t>
            </a:fld>
            <a:endParaRPr lang="en-IN"/>
          </a:p>
        </p:txBody>
      </p:sp>
    </p:spTree>
    <p:extLst>
      <p:ext uri="{BB962C8B-B14F-4D97-AF65-F5344CB8AC3E}">
        <p14:creationId xmlns:p14="http://schemas.microsoft.com/office/powerpoint/2010/main" val="300321329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20499-61E7-8EC1-5309-844DB3FB069C}"/>
              </a:ext>
            </a:extLst>
          </p:cNvPr>
          <p:cNvSpPr>
            <a:spLocks noGrp="1"/>
          </p:cNvSpPr>
          <p:nvPr>
            <p:ph type="ctrTitle"/>
          </p:nvPr>
        </p:nvSpPr>
        <p:spPr>
          <a:xfrm>
            <a:off x="1288026" y="697817"/>
            <a:ext cx="8367251" cy="2616199"/>
          </a:xfrm>
        </p:spPr>
        <p:txBody>
          <a:bodyPr>
            <a:normAutofit/>
          </a:bodyPr>
          <a:lstStyle/>
          <a:p>
            <a:pPr algn="ctr"/>
            <a:r>
              <a:rPr lang="en-US" sz="3600" dirty="0">
                <a:solidFill>
                  <a:schemeClr val="tx1"/>
                </a:solidFill>
                <a:latin typeface="Times New Roman" panose="02020603050405020304" pitchFamily="18" charset="0"/>
                <a:cs typeface="Times New Roman" panose="02020603050405020304" pitchFamily="18" charset="0"/>
              </a:rPr>
              <a:t>Ecommerce Data Pipeline for Real-Time KPI Intelligence</a:t>
            </a:r>
            <a:endParaRPr lang="en-IN" sz="3600"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E945F18-C4BC-2B7F-4D12-7C397AEBF477}"/>
              </a:ext>
            </a:extLst>
          </p:cNvPr>
          <p:cNvSpPr>
            <a:spLocks noGrp="1"/>
          </p:cNvSpPr>
          <p:nvPr>
            <p:ph type="subTitle" idx="1"/>
          </p:nvPr>
        </p:nvSpPr>
        <p:spPr/>
        <p:txBody>
          <a:bodyPr>
            <a:normAutofit/>
          </a:bodyPr>
          <a:lstStyle/>
          <a:p>
            <a:pPr algn="ctr"/>
            <a:r>
              <a:rPr lang="en-US" sz="2800" dirty="0">
                <a:latin typeface="Times New Roman" panose="02020603050405020304" pitchFamily="18" charset="0"/>
                <a:cs typeface="Times New Roman" panose="02020603050405020304" pitchFamily="18" charset="0"/>
              </a:rPr>
              <a:t>MSc Cloud Computing &amp; Data Engineering – Class of 2025</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4042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76BB7-9BC3-C0B9-6D18-201E5F94FD55}"/>
              </a:ext>
            </a:extLst>
          </p:cNvPr>
          <p:cNvSpPr>
            <a:spLocks noGrp="1"/>
          </p:cNvSpPr>
          <p:nvPr>
            <p:ph type="title"/>
          </p:nvPr>
        </p:nvSpPr>
        <p:spPr/>
        <p:txBody>
          <a:bodyPr>
            <a:normAutofit/>
          </a:bodyPr>
          <a:lstStyle/>
          <a:p>
            <a:pPr algn="ctr"/>
            <a:r>
              <a:rPr lang="en-IN" sz="3600" dirty="0">
                <a:latin typeface="Times New Roman" panose="02020603050405020304" pitchFamily="18" charset="0"/>
                <a:cs typeface="Times New Roman" panose="02020603050405020304" pitchFamily="18" charset="0"/>
              </a:rPr>
              <a:t>Introduction</a:t>
            </a:r>
            <a:endParaRPr lang="en-IN" sz="3600" dirty="0"/>
          </a:p>
        </p:txBody>
      </p:sp>
      <p:sp>
        <p:nvSpPr>
          <p:cNvPr id="3" name="Content Placeholder 2">
            <a:extLst>
              <a:ext uri="{FF2B5EF4-FFF2-40B4-BE49-F238E27FC236}">
                <a16:creationId xmlns:a16="http://schemas.microsoft.com/office/drawing/2014/main" id="{AFABE797-0A9F-A68C-935C-3C7524F50A76}"/>
              </a:ext>
            </a:extLst>
          </p:cNvPr>
          <p:cNvSpPr>
            <a:spLocks noGrp="1"/>
          </p:cNvSpPr>
          <p:nvPr>
            <p:ph idx="1"/>
          </p:nvPr>
        </p:nvSpPr>
        <p:spPr>
          <a:xfrm>
            <a:off x="1484310" y="2558845"/>
            <a:ext cx="10018713" cy="3124201"/>
          </a:xfrm>
        </p:spPr>
        <p:txBody>
          <a:bodyPr>
            <a:normAutofit fontScale="85000" lnSpcReduction="20000"/>
          </a:bodyPr>
          <a:lstStyle/>
          <a:p>
            <a:r>
              <a:rPr lang="en-US" sz="2800" dirty="0">
                <a:latin typeface="Times New Roman" panose="02020603050405020304" pitchFamily="18" charset="0"/>
                <a:cs typeface="Times New Roman" panose="02020603050405020304" pitchFamily="18" charset="0"/>
              </a:rPr>
              <a:t>Modern e-commerce runs across websites, apps, stores, and marketplaces, creating huge data volumes—over </a:t>
            </a:r>
            <a:r>
              <a:rPr lang="en-US" sz="2800" b="1" dirty="0">
                <a:latin typeface="Times New Roman" panose="02020603050405020304" pitchFamily="18" charset="0"/>
                <a:cs typeface="Times New Roman" panose="02020603050405020304" pitchFamily="18" charset="0"/>
              </a:rPr>
              <a:t>60,000+ orders/day</a:t>
            </a:r>
            <a:r>
              <a:rPr lang="en-US" sz="2800" dirty="0">
                <a:latin typeface="Times New Roman" panose="02020603050405020304" pitchFamily="18" charset="0"/>
                <a:cs typeface="Times New Roman" panose="02020603050405020304" pitchFamily="18" charset="0"/>
              </a:rPr>
              <a:t>. Legacy overnight ETL and spreadsheets could not handle real-time needs, causing delays and inconsistent KPIs.</a:t>
            </a:r>
          </a:p>
          <a:p>
            <a:r>
              <a:rPr lang="en-US" sz="2800" dirty="0">
                <a:latin typeface="Times New Roman" panose="02020603050405020304" pitchFamily="18" charset="0"/>
                <a:cs typeface="Times New Roman" panose="02020603050405020304" pitchFamily="18" charset="0"/>
              </a:rPr>
              <a:t>This project builds a </a:t>
            </a:r>
            <a:r>
              <a:rPr lang="en-US" sz="2800" b="1" dirty="0">
                <a:latin typeface="Times New Roman" panose="02020603050405020304" pitchFamily="18" charset="0"/>
                <a:cs typeface="Times New Roman" panose="02020603050405020304" pitchFamily="18" charset="0"/>
              </a:rPr>
              <a:t>real-time, scalable data platform</a:t>
            </a:r>
            <a:r>
              <a:rPr lang="en-US" sz="2800" dirty="0">
                <a:latin typeface="Times New Roman" panose="02020603050405020304" pitchFamily="18" charset="0"/>
                <a:cs typeface="Times New Roman" panose="02020603050405020304" pitchFamily="18" charset="0"/>
              </a:rPr>
              <a:t> supported by strong governance, quality, privacy, and observability. Using practical performance testing and stakeholder feedback, it delivers a clear </a:t>
            </a:r>
            <a:r>
              <a:rPr lang="en-US" sz="2800" b="1" dirty="0">
                <a:latin typeface="Times New Roman" panose="02020603050405020304" pitchFamily="18" charset="0"/>
                <a:cs typeface="Times New Roman" panose="02020603050405020304" pitchFamily="18" charset="0"/>
              </a:rPr>
              <a:t>architectural blueprint</a:t>
            </a:r>
            <a:r>
              <a:rPr lang="en-US" sz="2800" dirty="0">
                <a:latin typeface="Times New Roman" panose="02020603050405020304" pitchFamily="18" charset="0"/>
                <a:cs typeface="Times New Roman" panose="02020603050405020304" pitchFamily="18" charset="0"/>
              </a:rPr>
              <a:t> that improves latency, data accuracy, and decision-making for enterprise e-commerce.</a:t>
            </a:r>
          </a:p>
          <a:p>
            <a:pPr marL="0" indent="0">
              <a:buNone/>
            </a:pPr>
            <a:endParaRPr lang="en-IN" dirty="0"/>
          </a:p>
        </p:txBody>
      </p:sp>
    </p:spTree>
    <p:extLst>
      <p:ext uri="{BB962C8B-B14F-4D97-AF65-F5344CB8AC3E}">
        <p14:creationId xmlns:p14="http://schemas.microsoft.com/office/powerpoint/2010/main" val="2325161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8C950-626A-52BF-E197-7E2AEF6923A7}"/>
              </a:ext>
            </a:extLst>
          </p:cNvPr>
          <p:cNvSpPr>
            <a:spLocks noGrp="1"/>
          </p:cNvSpPr>
          <p:nvPr>
            <p:ph type="title"/>
          </p:nvPr>
        </p:nvSpPr>
        <p:spPr>
          <a:xfrm>
            <a:off x="1484311" y="685801"/>
            <a:ext cx="10018713" cy="1221658"/>
          </a:xfrm>
        </p:spPr>
        <p:txBody>
          <a:bodyPr>
            <a:normAutofit/>
          </a:bodyPr>
          <a:lstStyle/>
          <a:p>
            <a:pPr algn="ctr"/>
            <a:r>
              <a:rPr lang="en-IN" sz="3600" dirty="0">
                <a:latin typeface="Times New Roman" panose="02020603050405020304" pitchFamily="18" charset="0"/>
                <a:cs typeface="Times New Roman" panose="02020603050405020304" pitchFamily="18" charset="0"/>
              </a:rPr>
              <a:t>Problem Statement</a:t>
            </a:r>
            <a:endParaRPr lang="en-IN" sz="3600" dirty="0"/>
          </a:p>
        </p:txBody>
      </p:sp>
      <p:sp>
        <p:nvSpPr>
          <p:cNvPr id="3" name="Content Placeholder 2">
            <a:extLst>
              <a:ext uri="{FF2B5EF4-FFF2-40B4-BE49-F238E27FC236}">
                <a16:creationId xmlns:a16="http://schemas.microsoft.com/office/drawing/2014/main" id="{F2C7F543-F972-672B-4F5C-AB81A4335CC4}"/>
              </a:ext>
            </a:extLst>
          </p:cNvPr>
          <p:cNvSpPr>
            <a:spLocks noGrp="1"/>
          </p:cNvSpPr>
          <p:nvPr>
            <p:ph idx="1"/>
          </p:nvPr>
        </p:nvSpPr>
        <p:spPr>
          <a:xfrm>
            <a:off x="1484310" y="2054942"/>
            <a:ext cx="10018713" cy="3736259"/>
          </a:xfrm>
        </p:spPr>
        <p:txBody>
          <a:bodyPr>
            <a:normAutofit/>
          </a:bodyPr>
          <a:lstStyle/>
          <a:p>
            <a:r>
              <a:rPr lang="en-US" sz="2600" dirty="0">
                <a:latin typeface="Times New Roman" panose="02020603050405020304" pitchFamily="18" charset="0"/>
                <a:cs typeface="Times New Roman" panose="02020603050405020304" pitchFamily="18" charset="0"/>
              </a:rPr>
              <a:t>The </a:t>
            </a:r>
            <a:r>
              <a:rPr lang="en-US" sz="2600" dirty="0" err="1">
                <a:latin typeface="Times New Roman" panose="02020603050405020304" pitchFamily="18" charset="0"/>
                <a:cs typeface="Times New Roman" panose="02020603050405020304" pitchFamily="18" charset="0"/>
              </a:rPr>
              <a:t>organisation</a:t>
            </a:r>
            <a:r>
              <a:rPr lang="en-US" sz="2600" dirty="0">
                <a:latin typeface="Times New Roman" panose="02020603050405020304" pitchFamily="18" charset="0"/>
                <a:cs typeface="Times New Roman" panose="02020603050405020304" pitchFamily="18" charset="0"/>
              </a:rPr>
              <a:t> handles high-volume, multi-channel e-commerce data, but legacy overnight ETL and inconsistent data quality cause delayed insights and low trust in analytics. This limits fast decision-making, omnichannel </a:t>
            </a:r>
            <a:r>
              <a:rPr lang="en-US" sz="2600" dirty="0" err="1">
                <a:latin typeface="Times New Roman" panose="02020603050405020304" pitchFamily="18" charset="0"/>
                <a:cs typeface="Times New Roman" panose="02020603050405020304" pitchFamily="18" charset="0"/>
              </a:rPr>
              <a:t>personalisation</a:t>
            </a:r>
            <a:r>
              <a:rPr lang="en-US" sz="2600" dirty="0">
                <a:latin typeface="Times New Roman" panose="02020603050405020304" pitchFamily="18" charset="0"/>
                <a:cs typeface="Times New Roman" panose="02020603050405020304" pitchFamily="18" charset="0"/>
              </a:rPr>
              <a:t>, and future predictive capabilities. The core problem is the need for a </a:t>
            </a:r>
            <a:r>
              <a:rPr lang="en-US" sz="2600" b="1" dirty="0">
                <a:latin typeface="Times New Roman" panose="02020603050405020304" pitchFamily="18" charset="0"/>
                <a:cs typeface="Times New Roman" panose="02020603050405020304" pitchFamily="18" charset="0"/>
              </a:rPr>
              <a:t>unified, real-time data backbone</a:t>
            </a:r>
            <a:r>
              <a:rPr lang="en-US" sz="2600" dirty="0">
                <a:latin typeface="Times New Roman" panose="02020603050405020304" pitchFamily="18" charset="0"/>
                <a:cs typeface="Times New Roman" panose="02020603050405020304" pitchFamily="18" charset="0"/>
              </a:rPr>
              <a:t> that can ingest signals quickly, enforce quality automatically, and deliver accurate insights within minutes.</a:t>
            </a:r>
          </a:p>
          <a:p>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6813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92490-2642-FB32-A583-6A775D5A9384}"/>
              </a:ext>
            </a:extLst>
          </p:cNvPr>
          <p:cNvSpPr>
            <a:spLocks noGrp="1"/>
          </p:cNvSpPr>
          <p:nvPr>
            <p:ph type="title"/>
          </p:nvPr>
        </p:nvSpPr>
        <p:spPr>
          <a:xfrm>
            <a:off x="1484311" y="685801"/>
            <a:ext cx="10018713" cy="1152832"/>
          </a:xfrm>
        </p:spPr>
        <p:txBody>
          <a:bodyPr>
            <a:normAutofit/>
          </a:bodyPr>
          <a:lstStyle/>
          <a:p>
            <a:pPr algn="ctr"/>
            <a:r>
              <a:rPr lang="en-IN" sz="3600" dirty="0">
                <a:latin typeface="Times New Roman" panose="02020603050405020304" pitchFamily="18" charset="0"/>
                <a:cs typeface="Times New Roman" panose="02020603050405020304" pitchFamily="18" charset="0"/>
              </a:rPr>
              <a:t>Objectives</a:t>
            </a:r>
            <a:endParaRPr lang="en-IN" sz="3600" dirty="0"/>
          </a:p>
        </p:txBody>
      </p:sp>
      <p:sp>
        <p:nvSpPr>
          <p:cNvPr id="4" name="Rectangle 1">
            <a:extLst>
              <a:ext uri="{FF2B5EF4-FFF2-40B4-BE49-F238E27FC236}">
                <a16:creationId xmlns:a16="http://schemas.microsoft.com/office/drawing/2014/main" id="{07454472-7E62-6E50-E038-5AF454F2D7CD}"/>
              </a:ext>
            </a:extLst>
          </p:cNvPr>
          <p:cNvSpPr>
            <a:spLocks noGrp="1" noChangeArrowheads="1"/>
          </p:cNvSpPr>
          <p:nvPr>
            <p:ph idx="1"/>
          </p:nvPr>
        </p:nvSpPr>
        <p:spPr bwMode="auto">
          <a:xfrm>
            <a:off x="1484313" y="1915687"/>
            <a:ext cx="10453129"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 unified real-time data backbone</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seamlessly ingest and process multi-channel e-commerce signals.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Deliver insights within a 2-minute window</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reduce decision latency for sales, inventory, and customer experience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trust in analytics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implementing governed data models, automated quality checks, and full data lineage tracking.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omnichannel </a:t>
            </a:r>
            <a:r>
              <a:rPr kumimoji="0" lang="en-US" altLang="en-US" sz="2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personalisation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exposing curated datasets and APIs to digital products and partner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Prepare for predictive analytics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capturing detailed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behavioural</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operational data for future machine learning use cases.</a:t>
            </a:r>
          </a:p>
        </p:txBody>
      </p:sp>
    </p:spTree>
    <p:extLst>
      <p:ext uri="{BB962C8B-B14F-4D97-AF65-F5344CB8AC3E}">
        <p14:creationId xmlns:p14="http://schemas.microsoft.com/office/powerpoint/2010/main" val="3477866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E9FC2-F1BA-CC6F-AB47-CE2884BE1B40}"/>
              </a:ext>
            </a:extLst>
          </p:cNvPr>
          <p:cNvSpPr>
            <a:spLocks noGrp="1"/>
          </p:cNvSpPr>
          <p:nvPr>
            <p:ph type="title"/>
          </p:nvPr>
        </p:nvSpPr>
        <p:spPr>
          <a:xfrm>
            <a:off x="1484311" y="685800"/>
            <a:ext cx="10018713" cy="1044677"/>
          </a:xfrm>
        </p:spPr>
        <p:txBody>
          <a:bodyPr>
            <a:normAutofit/>
          </a:bodyPr>
          <a:lstStyle/>
          <a:p>
            <a:pPr algn="ctr"/>
            <a:r>
              <a:rPr lang="en-IN" sz="3600" dirty="0">
                <a:latin typeface="Times New Roman" panose="02020603050405020304" pitchFamily="18" charset="0"/>
                <a:cs typeface="Times New Roman" panose="02020603050405020304" pitchFamily="18" charset="0"/>
              </a:rPr>
              <a:t>System Overview</a:t>
            </a:r>
            <a:endParaRPr lang="en-IN" sz="3600" dirty="0"/>
          </a:p>
        </p:txBody>
      </p:sp>
      <p:sp>
        <p:nvSpPr>
          <p:cNvPr id="3" name="Content Placeholder 2">
            <a:extLst>
              <a:ext uri="{FF2B5EF4-FFF2-40B4-BE49-F238E27FC236}">
                <a16:creationId xmlns:a16="http://schemas.microsoft.com/office/drawing/2014/main" id="{24064727-877E-FD08-FD19-6ECF412B1822}"/>
              </a:ext>
            </a:extLst>
          </p:cNvPr>
          <p:cNvSpPr>
            <a:spLocks noGrp="1"/>
          </p:cNvSpPr>
          <p:nvPr>
            <p:ph idx="1"/>
          </p:nvPr>
        </p:nvSpPr>
        <p:spPr>
          <a:xfrm>
            <a:off x="1484310" y="1730477"/>
            <a:ext cx="10018713" cy="4060723"/>
          </a:xfrm>
        </p:spPr>
        <p:txBody>
          <a:bodyPr>
            <a:normAutofit/>
          </a:bodyPr>
          <a:lstStyle/>
          <a:p>
            <a:r>
              <a:rPr lang="en-US" sz="2600" dirty="0">
                <a:latin typeface="Times New Roman" panose="02020603050405020304" pitchFamily="18" charset="0"/>
                <a:cs typeface="Times New Roman" panose="02020603050405020304" pitchFamily="18" charset="0"/>
              </a:rPr>
              <a:t>The system is designed as a </a:t>
            </a:r>
            <a:r>
              <a:rPr lang="en-US" sz="2600" b="1" dirty="0">
                <a:latin typeface="Times New Roman" panose="02020603050405020304" pitchFamily="18" charset="0"/>
                <a:cs typeface="Times New Roman" panose="02020603050405020304" pitchFamily="18" charset="0"/>
              </a:rPr>
              <a:t>real-time, end-to-end data backbone</a:t>
            </a:r>
            <a:r>
              <a:rPr lang="en-US" sz="2600" dirty="0">
                <a:latin typeface="Times New Roman" panose="02020603050405020304" pitchFamily="18" charset="0"/>
                <a:cs typeface="Times New Roman" panose="02020603050405020304" pitchFamily="18" charset="0"/>
              </a:rPr>
              <a:t> that connects all e-commerce channels—web, mobile, stores, and marketplaces. Data is ingested through scalable streaming pipelines, processed using governed transformation layers, and stored in a unified analytics platform with strong quality, lineage, and monitoring controls. Curated datasets and APIs expose clean, trusted insights to business dashboards, digital products, and partner systems, enabling rapid decision-making, omnichannel personalization, and future predictive intelligence.</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947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108AA-D76D-438D-F0EE-990CEE1C4434}"/>
              </a:ext>
            </a:extLst>
          </p:cNvPr>
          <p:cNvSpPr>
            <a:spLocks noGrp="1"/>
          </p:cNvSpPr>
          <p:nvPr>
            <p:ph type="title"/>
          </p:nvPr>
        </p:nvSpPr>
        <p:spPr>
          <a:xfrm>
            <a:off x="1196101" y="544286"/>
            <a:ext cx="10018713" cy="975851"/>
          </a:xfrm>
        </p:spPr>
        <p:txBody>
          <a:bodyPr>
            <a:normAutofit/>
          </a:bodyPr>
          <a:lstStyle/>
          <a:p>
            <a:pPr algn="ctr"/>
            <a:r>
              <a:rPr lang="en-IN" sz="3600" dirty="0">
                <a:latin typeface="Times New Roman" panose="02020603050405020304" pitchFamily="18" charset="0"/>
                <a:cs typeface="Times New Roman" panose="02020603050405020304" pitchFamily="18" charset="0"/>
              </a:rPr>
              <a:t>Architecture Overview</a:t>
            </a:r>
            <a:endParaRPr lang="en-IN" sz="3600" dirty="0"/>
          </a:p>
        </p:txBody>
      </p:sp>
      <p:sp>
        <p:nvSpPr>
          <p:cNvPr id="3" name="Content Placeholder 2">
            <a:extLst>
              <a:ext uri="{FF2B5EF4-FFF2-40B4-BE49-F238E27FC236}">
                <a16:creationId xmlns:a16="http://schemas.microsoft.com/office/drawing/2014/main" id="{08512896-ABEE-B4F5-21A0-FDF9D738A3AF}"/>
              </a:ext>
            </a:extLst>
          </p:cNvPr>
          <p:cNvSpPr>
            <a:spLocks noGrp="1"/>
          </p:cNvSpPr>
          <p:nvPr>
            <p:ph idx="1"/>
          </p:nvPr>
        </p:nvSpPr>
        <p:spPr>
          <a:xfrm>
            <a:off x="727076" y="1281178"/>
            <a:ext cx="10018713" cy="5032536"/>
          </a:xfrm>
        </p:spPr>
        <p:txBody>
          <a:bodyPr>
            <a:noAutofit/>
          </a:bodyPr>
          <a:lstStyle/>
          <a:p>
            <a:pPr marL="0" indent="0">
              <a:buNone/>
            </a:pPr>
            <a:r>
              <a:rPr lang="en-IN" sz="2600" dirty="0">
                <a:latin typeface="Times New Roman" panose="02020603050405020304" pitchFamily="18" charset="0"/>
                <a:cs typeface="Times New Roman" panose="02020603050405020304" pitchFamily="18" charset="0"/>
              </a:rPr>
              <a:t>The platform is built as a </a:t>
            </a:r>
            <a:r>
              <a:rPr lang="en-IN" sz="2600" b="1" dirty="0">
                <a:latin typeface="Times New Roman" panose="02020603050405020304" pitchFamily="18" charset="0"/>
                <a:cs typeface="Times New Roman" panose="02020603050405020304" pitchFamily="18" charset="0"/>
              </a:rPr>
              <a:t>cloud-agnostic, multi-layer architecture</a:t>
            </a:r>
            <a:r>
              <a:rPr lang="en-IN" sz="2600" dirty="0">
                <a:latin typeface="Times New Roman" panose="02020603050405020304" pitchFamily="18" charset="0"/>
                <a:cs typeface="Times New Roman" panose="02020603050405020304" pitchFamily="18" charset="0"/>
              </a:rPr>
              <a:t> deployed across AWS and Azure, designed for portability using Terraform modules and environment-based configuration.</a:t>
            </a:r>
          </a:p>
          <a:p>
            <a:pPr marL="0" indent="0">
              <a:buNone/>
            </a:pPr>
            <a:endParaRPr lang="en-IN" sz="2600" dirty="0">
              <a:latin typeface="Times New Roman" panose="02020603050405020304" pitchFamily="18" charset="0"/>
              <a:cs typeface="Times New Roman" panose="02020603050405020304" pitchFamily="18" charset="0"/>
            </a:endParaRPr>
          </a:p>
          <a:p>
            <a:pPr marL="0" indent="0">
              <a:buNone/>
            </a:pPr>
            <a:endParaRPr lang="en-IN" sz="2600" dirty="0">
              <a:latin typeface="Times New Roman" panose="02020603050405020304" pitchFamily="18" charset="0"/>
              <a:cs typeface="Times New Roman" panose="02020603050405020304" pitchFamily="18" charset="0"/>
            </a:endParaRPr>
          </a:p>
          <a:p>
            <a:pPr marL="0" indent="0">
              <a:buNone/>
            </a:pPr>
            <a:endParaRPr lang="en-IN" sz="2600" dirty="0">
              <a:latin typeface="Times New Roman" panose="02020603050405020304" pitchFamily="18" charset="0"/>
              <a:cs typeface="Times New Roman" panose="02020603050405020304" pitchFamily="18" charset="0"/>
            </a:endParaRPr>
          </a:p>
          <a:p>
            <a:pPr marL="0" indent="0">
              <a:buNone/>
            </a:pPr>
            <a:endParaRPr lang="en-IN" sz="2600" b="1" dirty="0">
              <a:latin typeface="Times New Roman" panose="02020603050405020304" pitchFamily="18" charset="0"/>
              <a:cs typeface="Times New Roman" panose="02020603050405020304" pitchFamily="18" charset="0"/>
            </a:endParaRPr>
          </a:p>
          <a:p>
            <a:r>
              <a:rPr lang="en-IN" sz="2600" b="1" dirty="0">
                <a:latin typeface="Times New Roman" panose="02020603050405020304" pitchFamily="18" charset="0"/>
                <a:cs typeface="Times New Roman" panose="02020603050405020304" pitchFamily="18" charset="0"/>
              </a:rPr>
              <a:t>Ingestion Layer:</a:t>
            </a:r>
            <a:br>
              <a:rPr lang="en-IN" sz="2600" dirty="0">
                <a:latin typeface="Times New Roman" panose="02020603050405020304" pitchFamily="18" charset="0"/>
                <a:cs typeface="Times New Roman" panose="02020603050405020304" pitchFamily="18" charset="0"/>
              </a:rPr>
            </a:br>
            <a:r>
              <a:rPr lang="en-IN" sz="2600" dirty="0">
                <a:latin typeface="Times New Roman" panose="02020603050405020304" pitchFamily="18" charset="0"/>
                <a:cs typeface="Times New Roman" panose="02020603050405020304" pitchFamily="18" charset="0"/>
              </a:rPr>
              <a:t>Real-time streams (Kinesis / Event Hubs) capture orders, catalogue updates, and customer interactions. Serverless functions (AWS Lambda / Azure Functions) perform lightweight transformations and schema alignment.</a:t>
            </a:r>
          </a:p>
          <a:p>
            <a:endParaRPr lang="en-IN" sz="2600" dirty="0"/>
          </a:p>
        </p:txBody>
      </p:sp>
      <p:pic>
        <p:nvPicPr>
          <p:cNvPr id="5" name="Picture 4">
            <a:extLst>
              <a:ext uri="{FF2B5EF4-FFF2-40B4-BE49-F238E27FC236}">
                <a16:creationId xmlns:a16="http://schemas.microsoft.com/office/drawing/2014/main" id="{05A211A5-17F6-78A6-481D-BE0EC3B3FD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7702" y="2492829"/>
            <a:ext cx="4035764" cy="2641013"/>
          </a:xfrm>
          <a:prstGeom prst="rect">
            <a:avLst/>
          </a:prstGeom>
        </p:spPr>
      </p:pic>
    </p:spTree>
    <p:extLst>
      <p:ext uri="{BB962C8B-B14F-4D97-AF65-F5344CB8AC3E}">
        <p14:creationId xmlns:p14="http://schemas.microsoft.com/office/powerpoint/2010/main" val="3957668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F685C5-90AF-1F25-256F-BA98F212FD01}"/>
              </a:ext>
            </a:extLst>
          </p:cNvPr>
          <p:cNvSpPr>
            <a:spLocks noGrp="1"/>
          </p:cNvSpPr>
          <p:nvPr>
            <p:ph idx="1"/>
          </p:nvPr>
        </p:nvSpPr>
        <p:spPr>
          <a:xfrm>
            <a:off x="866634" y="1023256"/>
            <a:ext cx="9703395" cy="5467087"/>
          </a:xfrm>
        </p:spPr>
        <p:txBody>
          <a:bodyPr>
            <a:normAutofit/>
          </a:bodyPr>
          <a:lstStyle/>
          <a:p>
            <a:r>
              <a:rPr lang="en-IN" b="1" dirty="0">
                <a:latin typeface="Times New Roman" panose="02020603050405020304" pitchFamily="18" charset="0"/>
                <a:cs typeface="Times New Roman" panose="02020603050405020304" pitchFamily="18" charset="0"/>
              </a:rPr>
              <a:t>Serving Layer:</a:t>
            </a: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microservices provide APIs, while Power BI, Tableau, and </a:t>
            </a:r>
            <a:r>
              <a:rPr lang="en-IN" dirty="0" err="1">
                <a:latin typeface="Times New Roman" panose="02020603050405020304" pitchFamily="18" charset="0"/>
                <a:cs typeface="Times New Roman" panose="02020603050405020304" pitchFamily="18" charset="0"/>
              </a:rPr>
              <a:t>QuickSight</a:t>
            </a:r>
            <a:r>
              <a:rPr lang="en-IN" dirty="0">
                <a:latin typeface="Times New Roman" panose="02020603050405020304" pitchFamily="18" charset="0"/>
                <a:cs typeface="Times New Roman" panose="02020603050405020304" pitchFamily="18" charset="0"/>
              </a:rPr>
              <a:t> consume curated semantic models for dashboards and analytics.</a:t>
            </a:r>
          </a:p>
          <a:p>
            <a:r>
              <a:rPr lang="en-IN" b="1" dirty="0">
                <a:latin typeface="Times New Roman" panose="02020603050405020304" pitchFamily="18" charset="0"/>
                <a:cs typeface="Times New Roman" panose="02020603050405020304" pitchFamily="18" charset="0"/>
              </a:rPr>
              <a:t>Enablement Layer: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Jenkins, GitHub Actions, Terraform Cloud, and Datadog power CI/CD, infra provisioning, monitoring, and observability.</a:t>
            </a:r>
          </a:p>
          <a:p>
            <a:r>
              <a:rPr lang="en-IN" dirty="0">
                <a:latin typeface="Times New Roman" panose="02020603050405020304" pitchFamily="18" charset="0"/>
                <a:cs typeface="Times New Roman" panose="02020603050405020304" pitchFamily="18" charset="0"/>
              </a:rPr>
              <a:t>Consistent controls—data contract validation, lineage tracking, and secure secret injection—are enforced across all layers and clouds, ensuring stable, trusted, and scalable real-time analytics.</a:t>
            </a:r>
          </a:p>
          <a:p>
            <a:r>
              <a:rPr lang="en-IN" b="1" dirty="0">
                <a:latin typeface="Times New Roman" panose="02020603050405020304" pitchFamily="18" charset="0"/>
                <a:cs typeface="Times New Roman" panose="02020603050405020304" pitchFamily="18" charset="0"/>
              </a:rPr>
              <a:t>Processing Layer: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Apache Airflow orchestrates ETL and reverse ETL workflows. </a:t>
            </a:r>
            <a:r>
              <a:rPr lang="en-IN" dirty="0" err="1">
                <a:latin typeface="Times New Roman" panose="02020603050405020304" pitchFamily="18" charset="0"/>
                <a:cs typeface="Times New Roman" panose="02020603050405020304" pitchFamily="18" charset="0"/>
              </a:rPr>
              <a:t>dbt</a:t>
            </a:r>
            <a:r>
              <a:rPr lang="en-IN" dirty="0">
                <a:latin typeface="Times New Roman" panose="02020603050405020304" pitchFamily="18" charset="0"/>
                <a:cs typeface="Times New Roman" panose="02020603050405020304" pitchFamily="18" charset="0"/>
              </a:rPr>
              <a:t> handles SQL transformations, while </a:t>
            </a:r>
            <a:r>
              <a:rPr lang="en-IN" dirty="0" err="1">
                <a:latin typeface="Times New Roman" panose="02020603050405020304" pitchFamily="18" charset="0"/>
                <a:cs typeface="Times New Roman" panose="02020603050405020304" pitchFamily="18" charset="0"/>
              </a:rPr>
              <a:t>PySpark</a:t>
            </a:r>
            <a:r>
              <a:rPr lang="en-IN" dirty="0">
                <a:latin typeface="Times New Roman" panose="02020603050405020304" pitchFamily="18" charset="0"/>
                <a:cs typeface="Times New Roman" panose="02020603050405020304" pitchFamily="18" charset="0"/>
              </a:rPr>
              <a:t> notebooks process large-scale enrichment workloads</a:t>
            </a:r>
            <a:endParaRPr lang="en-IN" dirty="0"/>
          </a:p>
        </p:txBody>
      </p:sp>
    </p:spTree>
    <p:extLst>
      <p:ext uri="{BB962C8B-B14F-4D97-AF65-F5344CB8AC3E}">
        <p14:creationId xmlns:p14="http://schemas.microsoft.com/office/powerpoint/2010/main" val="407641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AA5D5-4609-1CE4-A287-CC42A18CC2D1}"/>
              </a:ext>
            </a:extLst>
          </p:cNvPr>
          <p:cNvSpPr>
            <a:spLocks noGrp="1"/>
          </p:cNvSpPr>
          <p:nvPr>
            <p:ph type="title"/>
          </p:nvPr>
        </p:nvSpPr>
        <p:spPr>
          <a:xfrm>
            <a:off x="1209009" y="425863"/>
            <a:ext cx="10018713" cy="995516"/>
          </a:xfrm>
        </p:spPr>
        <p:txBody>
          <a:bodyPr>
            <a:normAutofit/>
          </a:bodyPr>
          <a:lstStyle/>
          <a:p>
            <a:pPr algn="ctr"/>
            <a:r>
              <a:rPr lang="en-IN" sz="3600" dirty="0">
                <a:latin typeface="Times New Roman" panose="02020603050405020304" pitchFamily="18" charset="0"/>
                <a:cs typeface="Times New Roman" panose="02020603050405020304" pitchFamily="18" charset="0"/>
              </a:rPr>
              <a:t>Key Services &amp; Technologies Used</a:t>
            </a:r>
            <a:endParaRPr lang="en-IN" sz="3600" dirty="0"/>
          </a:p>
        </p:txBody>
      </p:sp>
      <p:sp>
        <p:nvSpPr>
          <p:cNvPr id="4" name="Rectangle 1">
            <a:extLst>
              <a:ext uri="{FF2B5EF4-FFF2-40B4-BE49-F238E27FC236}">
                <a16:creationId xmlns:a16="http://schemas.microsoft.com/office/drawing/2014/main" id="{08D213EB-93DA-8760-E91C-5653DA070D68}"/>
              </a:ext>
            </a:extLst>
          </p:cNvPr>
          <p:cNvSpPr>
            <a:spLocks noGrp="1" noChangeArrowheads="1"/>
          </p:cNvSpPr>
          <p:nvPr>
            <p:ph idx="1"/>
          </p:nvPr>
        </p:nvSpPr>
        <p:spPr bwMode="auto">
          <a:xfrm>
            <a:off x="1484312" y="1421379"/>
            <a:ext cx="10393055"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Ingestion: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 Kinesis, Azure Event Hubs, AWS Lambda, Azure Functions for capturing and transforming multi-channel events.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Orchestration &amp; Processing:</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Apache Airflow for workflow scheduling,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dbt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SQL-based transformations,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PySpark</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large-scale data enrichment.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 &amp; Warehousing:</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Amazon S3 and Azure ADLS Gen2 for bronze/silver layers; Amazon Redshift Serverless and Azure Synapse Analytics for gold analytical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Serving &amp; Consumption: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microservices for API delivery; Power BI, Tableau, and Amazon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QuickSight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dashboards and business reporting.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Automation &amp; Observability:</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Jenkins, GitHub Actions, Terraform Cloud for CI/CD and infrastructure automation; Datadog for monitoring and system visibility.</a:t>
            </a:r>
          </a:p>
        </p:txBody>
      </p:sp>
    </p:spTree>
    <p:extLst>
      <p:ext uri="{BB962C8B-B14F-4D97-AF65-F5344CB8AC3E}">
        <p14:creationId xmlns:p14="http://schemas.microsoft.com/office/powerpoint/2010/main" val="436413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2F623-BCBE-7B23-1560-EE3754369F90}"/>
              </a:ext>
            </a:extLst>
          </p:cNvPr>
          <p:cNvSpPr>
            <a:spLocks noGrp="1"/>
          </p:cNvSpPr>
          <p:nvPr>
            <p:ph type="title"/>
          </p:nvPr>
        </p:nvSpPr>
        <p:spPr>
          <a:xfrm>
            <a:off x="1484311" y="685801"/>
            <a:ext cx="10018713" cy="779205"/>
          </a:xfrm>
        </p:spPr>
        <p:txBody>
          <a:bodyPr>
            <a:normAutofit/>
          </a:bodyPr>
          <a:lstStyle/>
          <a:p>
            <a:r>
              <a:rPr lang="en-IN" sz="3600" dirty="0">
                <a:latin typeface="Times New Roman" panose="02020603050405020304" pitchFamily="18" charset="0"/>
                <a:cs typeface="Times New Roman" panose="02020603050405020304" pitchFamily="18" charset="0"/>
              </a:rPr>
              <a:t>Workflow</a:t>
            </a:r>
            <a:endParaRPr lang="en-IN" sz="3600" dirty="0"/>
          </a:p>
        </p:txBody>
      </p:sp>
      <p:sp>
        <p:nvSpPr>
          <p:cNvPr id="4" name="Rectangle 1">
            <a:extLst>
              <a:ext uri="{FF2B5EF4-FFF2-40B4-BE49-F238E27FC236}">
                <a16:creationId xmlns:a16="http://schemas.microsoft.com/office/drawing/2014/main" id="{EF5B9560-BBBC-FCA0-7FFF-A5BFA89F8C3F}"/>
              </a:ext>
            </a:extLst>
          </p:cNvPr>
          <p:cNvSpPr>
            <a:spLocks noGrp="1" noChangeArrowheads="1"/>
          </p:cNvSpPr>
          <p:nvPr>
            <p:ph idx="1"/>
          </p:nvPr>
        </p:nvSpPr>
        <p:spPr bwMode="auto">
          <a:xfrm>
            <a:off x="1365608" y="1707047"/>
            <a:ext cx="1013741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Multi-Channel Data Capture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Orders, product updates, and customer interactions stream in from websites, apps, and partner systems via Kinesis/Event Hubs.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Pre-Processing</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 Lambda/Azure Functions apply lightweight transformations, schema checks, and standardization at the edge.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Orchestrated Data Processing</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Airflow schedules ETL pipelines;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dbt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transforms structured layers;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PySpark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handles heavy enrichment and large-scale processing.</a:t>
            </a:r>
          </a:p>
        </p:txBody>
      </p:sp>
      <p:pic>
        <p:nvPicPr>
          <p:cNvPr id="6" name="Picture 5">
            <a:extLst>
              <a:ext uri="{FF2B5EF4-FFF2-40B4-BE49-F238E27FC236}">
                <a16:creationId xmlns:a16="http://schemas.microsoft.com/office/drawing/2014/main" id="{42ADD570-EFDE-D9E6-8F48-50AB1F015B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2395" y="3131779"/>
            <a:ext cx="4473836" cy="2462776"/>
          </a:xfrm>
          <a:prstGeom prst="rect">
            <a:avLst/>
          </a:prstGeom>
        </p:spPr>
      </p:pic>
    </p:spTree>
    <p:extLst>
      <p:ext uri="{BB962C8B-B14F-4D97-AF65-F5344CB8AC3E}">
        <p14:creationId xmlns:p14="http://schemas.microsoft.com/office/powerpoint/2010/main" val="1118016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7C3200-1A48-1EFE-8409-BC43AF5910ED}"/>
              </a:ext>
            </a:extLst>
          </p:cNvPr>
          <p:cNvSpPr>
            <a:spLocks noGrp="1"/>
          </p:cNvSpPr>
          <p:nvPr>
            <p:ph idx="1"/>
          </p:nvPr>
        </p:nvSpPr>
        <p:spPr>
          <a:xfrm>
            <a:off x="1484310" y="737419"/>
            <a:ext cx="10018713" cy="5053781"/>
          </a:xfrm>
        </p:spPr>
        <p:txBody>
          <a:bodyPr>
            <a:normAutofit/>
          </a:bodyPr>
          <a:lstStyle/>
          <a:p>
            <a:pPr marL="0" lvl="0" indent="0" defTabSz="914400" eaLnBrk="0" fontAlgn="base" hangingPunct="0">
              <a:spcBef>
                <a:spcPct val="0"/>
              </a:spcBef>
              <a:spcAft>
                <a:spcPct val="0"/>
              </a:spcAft>
              <a:buClrTx/>
              <a:buSzTx/>
              <a:buFontTx/>
              <a:buChar char="•"/>
            </a:pPr>
            <a:r>
              <a:rPr lang="en-US" altLang="en-US" b="1" dirty="0">
                <a:latin typeface="Times New Roman" panose="02020603050405020304" pitchFamily="18" charset="0"/>
                <a:cs typeface="Times New Roman" panose="02020603050405020304" pitchFamily="18" charset="0"/>
              </a:rPr>
              <a:t>Layered Storage Architecture</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Raw data lands in Bronze (S3/ADLS), cleaned and validated data moves to Silver, and analytics-ready models are stored in Gold (Redshift/Synapse).</a:t>
            </a:r>
          </a:p>
          <a:p>
            <a:pPr marL="0" lvl="0" indent="0" defTabSz="914400" eaLnBrk="0" fontAlgn="base" hangingPunct="0">
              <a:spcBef>
                <a:spcPct val="0"/>
              </a:spcBef>
              <a:spcAft>
                <a:spcPct val="0"/>
              </a:spcAft>
              <a:buClrTx/>
              <a:buSzTx/>
              <a:buFontTx/>
              <a:buChar char="•"/>
            </a:pPr>
            <a:r>
              <a:rPr lang="en-US" altLang="en-US" b="1" dirty="0">
                <a:latin typeface="Times New Roman" panose="02020603050405020304" pitchFamily="18" charset="0"/>
                <a:cs typeface="Times New Roman" panose="02020603050405020304" pitchFamily="18" charset="0"/>
              </a:rPr>
              <a:t>Insight Delivery &amp; APIs</a:t>
            </a:r>
            <a:br>
              <a:rPr lang="en-US" altLang="en-US" dirty="0">
                <a:latin typeface="Times New Roman" panose="02020603050405020304" pitchFamily="18" charset="0"/>
                <a:cs typeface="Times New Roman" panose="02020603050405020304" pitchFamily="18" charset="0"/>
              </a:rPr>
            </a:br>
            <a:r>
              <a:rPr lang="en-US" altLang="en-US" dirty="0" err="1">
                <a:latin typeface="Times New Roman" panose="02020603050405020304" pitchFamily="18" charset="0"/>
                <a:cs typeface="Times New Roman" panose="02020603050405020304" pitchFamily="18" charset="0"/>
              </a:rPr>
              <a:t>FastAPI</a:t>
            </a:r>
            <a:r>
              <a:rPr lang="en-US" altLang="en-US" dirty="0">
                <a:latin typeface="Times New Roman" panose="02020603050405020304" pitchFamily="18" charset="0"/>
                <a:cs typeface="Times New Roman" panose="02020603050405020304" pitchFamily="18" charset="0"/>
              </a:rPr>
              <a:t> services expose curated datasets, and BI tools (Power BI, Tableau, </a:t>
            </a:r>
            <a:r>
              <a:rPr lang="en-US" altLang="en-US" dirty="0" err="1">
                <a:latin typeface="Times New Roman" panose="02020603050405020304" pitchFamily="18" charset="0"/>
                <a:cs typeface="Times New Roman" panose="02020603050405020304" pitchFamily="18" charset="0"/>
              </a:rPr>
              <a:t>QuickSight</a:t>
            </a:r>
            <a:r>
              <a:rPr lang="en-US" altLang="en-US" dirty="0">
                <a:latin typeface="Times New Roman" panose="02020603050405020304" pitchFamily="18" charset="0"/>
                <a:cs typeface="Times New Roman" panose="02020603050405020304" pitchFamily="18" charset="0"/>
              </a:rPr>
              <a:t>) consume semantic models for dashboards.</a:t>
            </a:r>
          </a:p>
          <a:p>
            <a:pPr marL="0" lvl="0" indent="0" defTabSz="914400" eaLnBrk="0" fontAlgn="base" hangingPunct="0">
              <a:spcBef>
                <a:spcPct val="0"/>
              </a:spcBef>
              <a:spcAft>
                <a:spcPct val="0"/>
              </a:spcAft>
              <a:buClrTx/>
              <a:buSzTx/>
              <a:buFontTx/>
              <a:buChar char="•"/>
            </a:pPr>
            <a:r>
              <a:rPr lang="en-US" altLang="en-US" b="1" dirty="0">
                <a:latin typeface="Times New Roman" panose="02020603050405020304" pitchFamily="18" charset="0"/>
                <a:cs typeface="Times New Roman" panose="02020603050405020304" pitchFamily="18" charset="0"/>
              </a:rPr>
              <a:t>Automation &amp; Observability</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CI/CD pipelines (Jenkins, GitHub Actions, Terraform) provision and deploy infrastructure, while Datadog monitors performance, quality, and lineage.</a:t>
            </a:r>
          </a:p>
          <a:p>
            <a:endParaRPr lang="en-IN" dirty="0"/>
          </a:p>
        </p:txBody>
      </p:sp>
    </p:spTree>
    <p:extLst>
      <p:ext uri="{BB962C8B-B14F-4D97-AF65-F5344CB8AC3E}">
        <p14:creationId xmlns:p14="http://schemas.microsoft.com/office/powerpoint/2010/main" val="1472380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6F976-311C-188C-6A32-4CEA4C85D74D}"/>
              </a:ext>
            </a:extLst>
          </p:cNvPr>
          <p:cNvSpPr>
            <a:spLocks noGrp="1"/>
          </p:cNvSpPr>
          <p:nvPr>
            <p:ph type="title"/>
          </p:nvPr>
        </p:nvSpPr>
        <p:spPr>
          <a:xfrm>
            <a:off x="1484311" y="685801"/>
            <a:ext cx="10018713" cy="838200"/>
          </a:xfrm>
        </p:spPr>
        <p:txBody>
          <a:bodyPr>
            <a:normAutofit/>
          </a:bodyPr>
          <a:lstStyle/>
          <a:p>
            <a:pPr algn="ctr"/>
            <a:r>
              <a:rPr lang="en-IN" sz="3600" dirty="0">
                <a:latin typeface="Times New Roman" panose="02020603050405020304" pitchFamily="18" charset="0"/>
                <a:cs typeface="Times New Roman" panose="02020603050405020304" pitchFamily="18" charset="0"/>
              </a:rPr>
              <a:t>Data model</a:t>
            </a:r>
            <a:endParaRPr lang="en-IN" sz="3600" dirty="0"/>
          </a:p>
        </p:txBody>
      </p:sp>
      <p:sp>
        <p:nvSpPr>
          <p:cNvPr id="3" name="Content Placeholder 2">
            <a:extLst>
              <a:ext uri="{FF2B5EF4-FFF2-40B4-BE49-F238E27FC236}">
                <a16:creationId xmlns:a16="http://schemas.microsoft.com/office/drawing/2014/main" id="{B1798973-9307-990B-BBDF-37CE60B9E77E}"/>
              </a:ext>
            </a:extLst>
          </p:cNvPr>
          <p:cNvSpPr>
            <a:spLocks noGrp="1"/>
          </p:cNvSpPr>
          <p:nvPr>
            <p:ph idx="1"/>
          </p:nvPr>
        </p:nvSpPr>
        <p:spPr>
          <a:xfrm>
            <a:off x="1484310" y="1691148"/>
            <a:ext cx="10018713" cy="4257367"/>
          </a:xfrm>
        </p:spPr>
        <p:txBody>
          <a:bodyPr>
            <a:normAutofit/>
          </a:bodyPr>
          <a:lstStyle/>
          <a:p>
            <a:r>
              <a:rPr lang="en-US" dirty="0">
                <a:latin typeface="Times New Roman" panose="02020603050405020304" pitchFamily="18" charset="0"/>
                <a:cs typeface="Times New Roman" panose="02020603050405020304" pitchFamily="18" charset="0"/>
              </a:rPr>
              <a:t>The project uses a domain-driven Medallion data model—Bronze, Silver, and Gold—to deliver a consistent, high-quality analytics foundation across AWS and Azure. In the Bronze layer, all ecommerce events such as orders, products, and customer interactions are captured in raw, immutable form to ensure </a:t>
            </a:r>
            <a:r>
              <a:rPr lang="en-US" dirty="0" err="1">
                <a:latin typeface="Times New Roman" panose="02020603050405020304" pitchFamily="18" charset="0"/>
                <a:cs typeface="Times New Roman" panose="02020603050405020304" pitchFamily="18" charset="0"/>
              </a:rPr>
              <a:t>replayability</a:t>
            </a:r>
            <a:r>
              <a:rPr lang="en-US" dirty="0">
                <a:latin typeface="Times New Roman" panose="02020603050405020304" pitchFamily="18" charset="0"/>
                <a:cs typeface="Times New Roman" panose="02020603050405020304" pitchFamily="18" charset="0"/>
              </a:rPr>
              <a:t> and full traceability. The Silver layer </a:t>
            </a:r>
            <a:r>
              <a:rPr lang="en-US" dirty="0" err="1">
                <a:latin typeface="Times New Roman" panose="02020603050405020304" pitchFamily="18" charset="0"/>
                <a:cs typeface="Times New Roman" panose="02020603050405020304" pitchFamily="18" charset="0"/>
              </a:rPr>
              <a:t>standardises</a:t>
            </a:r>
            <a:r>
              <a:rPr lang="en-US" dirty="0">
                <a:latin typeface="Times New Roman" panose="02020603050405020304" pitchFamily="18" charset="0"/>
                <a:cs typeface="Times New Roman" panose="02020603050405020304" pitchFamily="18" charset="0"/>
              </a:rPr>
              <a:t> this data through type casting, deduplication, validation rules, and schema contracts, producing clean, trusted tables ready for analytics and joins. Finally, the Gold layer provides curated business marts—such as revenue, trust scores, and loyalty recommendations—that power </a:t>
            </a:r>
            <a:r>
              <a:rPr lang="en-US" dirty="0" err="1">
                <a:latin typeface="Times New Roman" panose="02020603050405020304" pitchFamily="18" charset="0"/>
                <a:cs typeface="Times New Roman" panose="02020603050405020304" pitchFamily="18" charset="0"/>
              </a:rPr>
              <a:t>FastAPI</a:t>
            </a:r>
            <a:r>
              <a:rPr lang="en-US" dirty="0">
                <a:latin typeface="Times New Roman" panose="02020603050405020304" pitchFamily="18" charset="0"/>
                <a:cs typeface="Times New Roman" panose="02020603050405020304" pitchFamily="18" charset="0"/>
              </a:rPr>
              <a:t> services, dashboards, and the customer app. </a:t>
            </a:r>
          </a:p>
          <a:p>
            <a:r>
              <a:rPr lang="en-US" dirty="0">
                <a:latin typeface="Times New Roman" panose="02020603050405020304" pitchFamily="18" charset="0"/>
                <a:cs typeface="Times New Roman" panose="02020603050405020304" pitchFamily="18" charset="0"/>
              </a:rPr>
              <a:t>This layered model ensures reliable data quality, consistent schemas across clouds, and a strong backbone for real-time KPIs, </a:t>
            </a:r>
            <a:r>
              <a:rPr lang="en-US" dirty="0" err="1">
                <a:latin typeface="Times New Roman" panose="02020603050405020304" pitchFamily="18" charset="0"/>
                <a:cs typeface="Times New Roman" panose="02020603050405020304" pitchFamily="18" charset="0"/>
              </a:rPr>
              <a:t>personalisation</a:t>
            </a:r>
            <a:r>
              <a:rPr lang="en-US" dirty="0">
                <a:latin typeface="Times New Roman" panose="02020603050405020304" pitchFamily="18" charset="0"/>
                <a:cs typeface="Times New Roman" panose="02020603050405020304" pitchFamily="18" charset="0"/>
              </a:rPr>
              <a:t>, and future machine learning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8651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30532-187C-056F-AF6E-18806DF6BA04}"/>
              </a:ext>
            </a:extLst>
          </p:cNvPr>
          <p:cNvSpPr>
            <a:spLocks noGrp="1"/>
          </p:cNvSpPr>
          <p:nvPr>
            <p:ph type="title"/>
          </p:nvPr>
        </p:nvSpPr>
        <p:spPr>
          <a:xfrm>
            <a:off x="1484311" y="685801"/>
            <a:ext cx="10018713" cy="926690"/>
          </a:xfrm>
        </p:spPr>
        <p:txBody>
          <a:bodyPr>
            <a:normAutofit/>
          </a:bodyPr>
          <a:lstStyle/>
          <a:p>
            <a:pPr algn="ctr"/>
            <a:r>
              <a:rPr lang="en-US" sz="3600" dirty="0">
                <a:latin typeface="Times New Roman" panose="02020603050405020304" pitchFamily="18" charset="0"/>
                <a:cs typeface="Times New Roman" panose="02020603050405020304" pitchFamily="18" charset="0"/>
              </a:rPr>
              <a:t>Entity-Relationship Diagram</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E62B4C8-B6F1-814B-4DA4-861A1421CFB4}"/>
              </a:ext>
            </a:extLst>
          </p:cNvPr>
          <p:cNvSpPr>
            <a:spLocks noGrp="1"/>
          </p:cNvSpPr>
          <p:nvPr>
            <p:ph idx="1"/>
          </p:nvPr>
        </p:nvSpPr>
        <p:spPr>
          <a:xfrm>
            <a:off x="1484311" y="1809135"/>
            <a:ext cx="6499483" cy="4363064"/>
          </a:xfrm>
        </p:spPr>
        <p:txBody>
          <a:bodyPr>
            <a:normAutofit/>
          </a:bodyPr>
          <a:lstStyle/>
          <a:p>
            <a:r>
              <a:rPr lang="en-US" dirty="0">
                <a:latin typeface="Times New Roman" panose="02020603050405020304" pitchFamily="18" charset="0"/>
                <a:cs typeface="Times New Roman" panose="02020603050405020304" pitchFamily="18" charset="0"/>
              </a:rPr>
              <a:t>The ERD represents how core ecommerce entities—such as </a:t>
            </a:r>
            <a:r>
              <a:rPr lang="en-US" b="1" dirty="0">
                <a:latin typeface="Times New Roman" panose="02020603050405020304" pitchFamily="18" charset="0"/>
                <a:cs typeface="Times New Roman" panose="02020603050405020304" pitchFamily="18" charset="0"/>
              </a:rPr>
              <a:t>Orders, Customers, Products, and Inventory</a:t>
            </a:r>
            <a:r>
              <a:rPr lang="en-US" dirty="0">
                <a:latin typeface="Times New Roman" panose="02020603050405020304" pitchFamily="18" charset="0"/>
                <a:cs typeface="Times New Roman" panose="02020603050405020304" pitchFamily="18" charset="0"/>
              </a:rPr>
              <a:t>—are connected across the data model. Customers place multiple orders (one-to-many), each order contains several order items (one-to-many), and every item maps back to a product (many-to-one). </a:t>
            </a:r>
          </a:p>
          <a:p>
            <a:r>
              <a:rPr lang="en-US" dirty="0">
                <a:latin typeface="Times New Roman" panose="02020603050405020304" pitchFamily="18" charset="0"/>
                <a:cs typeface="Times New Roman" panose="02020603050405020304" pitchFamily="18" charset="0"/>
              </a:rPr>
              <a:t>Products are linked to categories and inventory records, enabling accurate availability and pricing checks. These relationships ensure clean joins in the Silver layer and form the backbone of the curated Gold marts like revenue, trust scores, and loyalty recommendations. By clearly defining keys, dependencies, and business relationships, the ERD makes downstream modelling predictable, improves data quality, and ensures that APIs, dashboards, and customer apps all consume consistent, well-structured data.</a:t>
            </a:r>
          </a:p>
        </p:txBody>
      </p:sp>
      <p:pic>
        <p:nvPicPr>
          <p:cNvPr id="5" name="Picture 4">
            <a:extLst>
              <a:ext uri="{FF2B5EF4-FFF2-40B4-BE49-F238E27FC236}">
                <a16:creationId xmlns:a16="http://schemas.microsoft.com/office/drawing/2014/main" id="{FE2FA47C-34D3-C0DF-75AD-276D28AD4A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519" y="2305563"/>
            <a:ext cx="4185909" cy="2246873"/>
          </a:xfrm>
          <a:prstGeom prst="rect">
            <a:avLst/>
          </a:prstGeom>
        </p:spPr>
      </p:pic>
    </p:spTree>
    <p:extLst>
      <p:ext uri="{BB962C8B-B14F-4D97-AF65-F5344CB8AC3E}">
        <p14:creationId xmlns:p14="http://schemas.microsoft.com/office/powerpoint/2010/main" val="136517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05D7A-4E9E-FF91-35BD-CFEA518E67DB}"/>
              </a:ext>
            </a:extLst>
          </p:cNvPr>
          <p:cNvSpPr>
            <a:spLocks noGrp="1"/>
          </p:cNvSpPr>
          <p:nvPr>
            <p:ph type="title"/>
          </p:nvPr>
        </p:nvSpPr>
        <p:spPr>
          <a:xfrm>
            <a:off x="1484311" y="685801"/>
            <a:ext cx="10018713" cy="926690"/>
          </a:xfrm>
        </p:spPr>
        <p:txBody>
          <a:bodyPr>
            <a:normAutofit/>
          </a:bodyPr>
          <a:lstStyle/>
          <a:p>
            <a:pPr algn="ctr"/>
            <a:r>
              <a:rPr lang="en-IN" sz="3600" dirty="0">
                <a:latin typeface="Times New Roman" panose="02020603050405020304" pitchFamily="18" charset="0"/>
                <a:cs typeface="Times New Roman" panose="02020603050405020304" pitchFamily="18" charset="0"/>
              </a:rPr>
              <a:t>Implementation Steps</a:t>
            </a:r>
            <a:endParaRPr lang="en-IN" sz="3600" dirty="0"/>
          </a:p>
        </p:txBody>
      </p:sp>
      <p:sp>
        <p:nvSpPr>
          <p:cNvPr id="3" name="Content Placeholder 2">
            <a:extLst>
              <a:ext uri="{FF2B5EF4-FFF2-40B4-BE49-F238E27FC236}">
                <a16:creationId xmlns:a16="http://schemas.microsoft.com/office/drawing/2014/main" id="{7CBB06E2-BBA0-7B9F-6784-676533014E8D}"/>
              </a:ext>
            </a:extLst>
          </p:cNvPr>
          <p:cNvSpPr>
            <a:spLocks noGrp="1"/>
          </p:cNvSpPr>
          <p:nvPr>
            <p:ph idx="1"/>
          </p:nvPr>
        </p:nvSpPr>
        <p:spPr>
          <a:xfrm>
            <a:off x="1484310" y="1700981"/>
            <a:ext cx="10018713" cy="4090219"/>
          </a:xfrm>
        </p:spPr>
        <p:txBody>
          <a:bodyPr>
            <a:normAutofit/>
          </a:bodyPr>
          <a:lstStyle/>
          <a:p>
            <a:r>
              <a:rPr lang="en-US" dirty="0">
                <a:latin typeface="Times New Roman" panose="02020603050405020304" pitchFamily="18" charset="0"/>
                <a:cs typeface="Times New Roman" panose="02020603050405020304" pitchFamily="18" charset="0"/>
              </a:rPr>
              <a:t>The implementation of this project followed a structured and scalable workflow. First, I identified the required data sources and connected them to Azure Data Factory using parameterized and reusable pipelines. Next, I built dynamic ingestion flows that could automatically adapt to different file formats, folder structures, and schedules. Once the raw data landed in the data lake, I used Azure Databricks to perform cleaning, transformation, and enrichment, leveraging </a:t>
            </a:r>
            <a:r>
              <a:rPr lang="en-US" dirty="0" err="1">
                <a:latin typeface="Times New Roman" panose="02020603050405020304" pitchFamily="18" charset="0"/>
                <a:cs typeface="Times New Roman" panose="02020603050405020304" pitchFamily="18" charset="0"/>
              </a:rPr>
              <a:t>PySpark</a:t>
            </a:r>
            <a:r>
              <a:rPr lang="en-US" dirty="0">
                <a:latin typeface="Times New Roman" panose="02020603050405020304" pitchFamily="18" charset="0"/>
                <a:cs typeface="Times New Roman" panose="02020603050405020304" pitchFamily="18" charset="0"/>
              </a:rPr>
              <a:t> for distributed processing. </a:t>
            </a:r>
          </a:p>
          <a:p>
            <a:r>
              <a:rPr lang="en-US" dirty="0">
                <a:latin typeface="Times New Roman" panose="02020603050405020304" pitchFamily="18" charset="0"/>
                <a:cs typeface="Times New Roman" panose="02020603050405020304" pitchFamily="18" charset="0"/>
              </a:rPr>
              <a:t>I then applied business rules, handled schema evolution, and optimized the data into Delta format for faster querying and reliability. After transforming the data, I loaded it into curated layers and validated quality through automated checks. Finally, the entire workflow was orchestrated end-to-end using ADF triggers and monitoring dashboards to ensure high reliability, scalability, and cost efficiency. This structured approach ensured the pipeline is modular, maintainable, and ready for real-time enterprise use.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1092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DBA87-B76A-B118-1937-DCCB6C827343}"/>
              </a:ext>
            </a:extLst>
          </p:cNvPr>
          <p:cNvSpPr>
            <a:spLocks noGrp="1"/>
          </p:cNvSpPr>
          <p:nvPr>
            <p:ph type="title"/>
          </p:nvPr>
        </p:nvSpPr>
        <p:spPr>
          <a:xfrm>
            <a:off x="1484311" y="685801"/>
            <a:ext cx="10018713" cy="907026"/>
          </a:xfrm>
        </p:spPr>
        <p:txBody>
          <a:bodyPr>
            <a:normAutofit/>
          </a:bodyPr>
          <a:lstStyle/>
          <a:p>
            <a:pPr algn="ctr"/>
            <a:r>
              <a:rPr lang="en-IN" sz="3600" dirty="0">
                <a:latin typeface="Times New Roman" panose="02020603050405020304" pitchFamily="18" charset="0"/>
                <a:cs typeface="Times New Roman" panose="02020603050405020304" pitchFamily="18" charset="0"/>
              </a:rPr>
              <a:t>Results And Outputs</a:t>
            </a:r>
            <a:endParaRPr lang="en-IN" sz="3600" dirty="0"/>
          </a:p>
        </p:txBody>
      </p:sp>
      <p:sp>
        <p:nvSpPr>
          <p:cNvPr id="4" name="Rectangle 1">
            <a:extLst>
              <a:ext uri="{FF2B5EF4-FFF2-40B4-BE49-F238E27FC236}">
                <a16:creationId xmlns:a16="http://schemas.microsoft.com/office/drawing/2014/main" id="{1C72B1FA-AD07-50FE-7486-9D391647EE17}"/>
              </a:ext>
            </a:extLst>
          </p:cNvPr>
          <p:cNvSpPr>
            <a:spLocks noGrp="1" noChangeArrowheads="1"/>
          </p:cNvSpPr>
          <p:nvPr>
            <p:ph idx="1"/>
          </p:nvPr>
        </p:nvSpPr>
        <p:spPr bwMode="auto">
          <a:xfrm>
            <a:off x="1484313" y="1669544"/>
            <a:ext cx="10137416"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 Processing:</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KPI dashboards refresh in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 3 minutes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even with high event 	loads.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Data Quality:</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Automated validation achieved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99.2% pass rate</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improving 	trust and consistency.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Multi-Cloud Ready:</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Pipeline successfully tested on both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Azure and AWS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ensuring portability.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Strong Observability:</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92% telemetry coverage</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complete monitoring and 	quick issue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 Speed:</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Automated CI/CD reduced release lead time to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26 minutes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 Impact:</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Prevented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€1.1M revenue loss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reduced customer handling time 	by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18%</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saved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120 analyst hours/quarter</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Adoption:</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86% weekly usage</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data trust rising from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48% → 88%</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081775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20A8F-EA98-CF6D-AB7F-B7DD684E7E55}"/>
              </a:ext>
            </a:extLst>
          </p:cNvPr>
          <p:cNvSpPr>
            <a:spLocks noGrp="1"/>
          </p:cNvSpPr>
          <p:nvPr>
            <p:ph type="title"/>
          </p:nvPr>
        </p:nvSpPr>
        <p:spPr>
          <a:xfrm>
            <a:off x="1484311" y="685800"/>
            <a:ext cx="10018713" cy="798871"/>
          </a:xfrm>
        </p:spPr>
        <p:txBody>
          <a:bodyPr>
            <a:normAutofit/>
          </a:bodyPr>
          <a:lstStyle/>
          <a:p>
            <a:pPr algn="ctr"/>
            <a:r>
              <a:rPr lang="en-IN" sz="3600" dirty="0">
                <a:latin typeface="Times New Roman" panose="02020603050405020304" pitchFamily="18" charset="0"/>
                <a:cs typeface="Times New Roman" panose="02020603050405020304" pitchFamily="18" charset="0"/>
              </a:rPr>
              <a:t>Evaluation Metrics</a:t>
            </a:r>
            <a:endParaRPr lang="en-IN" sz="3600" dirty="0"/>
          </a:p>
        </p:txBody>
      </p:sp>
      <p:sp>
        <p:nvSpPr>
          <p:cNvPr id="4" name="Rectangle 1">
            <a:extLst>
              <a:ext uri="{FF2B5EF4-FFF2-40B4-BE49-F238E27FC236}">
                <a16:creationId xmlns:a16="http://schemas.microsoft.com/office/drawing/2014/main" id="{812B1B6F-09D3-DEB7-DFA3-EE57954F1CFB}"/>
              </a:ext>
            </a:extLst>
          </p:cNvPr>
          <p:cNvSpPr>
            <a:spLocks noGrp="1" noChangeArrowheads="1"/>
          </p:cNvSpPr>
          <p:nvPr>
            <p:ph idx="1"/>
          </p:nvPr>
        </p:nvSpPr>
        <p:spPr bwMode="auto">
          <a:xfrm>
            <a:off x="1484313" y="1423438"/>
            <a:ext cx="10392839"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Freshness:</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Measures how quickly KPIs and curated datasets are refreshed (target: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&lt;3 minutes</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Quality Score:</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Percentage of rules passed across schema, null checks, and business 	validations (achieved: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99.2%</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Throughput &amp; Scalability:</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Events processed per minute under peak load (tested at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50,000+ events/min</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Multi-Cloud Reliability:</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Success rate of deployments across AWS and Azure with identical 	configurations.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Observability Coverage:</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Percentage of services emitting metrics, logs, and traces (achieved: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92%</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Release Lead Time:</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Time from code commit to production deployment (reduced to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26 minutes</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Adoption Rate:</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Weekly active users vs. target personas (achieved: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86% adoption</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 SLA Compliance:</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Accuracy and timeliness of sales, inventory, and customer 	metrics delivered to teams.</a:t>
            </a:r>
          </a:p>
        </p:txBody>
      </p:sp>
    </p:spTree>
    <p:extLst>
      <p:ext uri="{BB962C8B-B14F-4D97-AF65-F5344CB8AC3E}">
        <p14:creationId xmlns:p14="http://schemas.microsoft.com/office/powerpoint/2010/main" val="3962622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B3D6E-667B-87FC-8E5D-AF81E1F15CE6}"/>
              </a:ext>
            </a:extLst>
          </p:cNvPr>
          <p:cNvSpPr>
            <a:spLocks noGrp="1"/>
          </p:cNvSpPr>
          <p:nvPr>
            <p:ph type="title"/>
          </p:nvPr>
        </p:nvSpPr>
        <p:spPr>
          <a:xfrm>
            <a:off x="1484311" y="685800"/>
            <a:ext cx="10018713" cy="789039"/>
          </a:xfrm>
        </p:spPr>
        <p:txBody>
          <a:bodyPr>
            <a:normAutofit/>
          </a:bodyPr>
          <a:lstStyle/>
          <a:p>
            <a:pPr algn="ctr"/>
            <a:r>
              <a:rPr lang="en-US" sz="3600" dirty="0">
                <a:latin typeface="Times New Roman" panose="02020603050405020304" pitchFamily="18" charset="0"/>
                <a:cs typeface="Times New Roman" panose="02020603050405020304" pitchFamily="18" charset="0"/>
              </a:rPr>
              <a:t>Challenges Faced</a:t>
            </a:r>
            <a:endParaRPr lang="en-IN" sz="36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F7FE25B0-4788-358E-F86A-8021C99D7D5A}"/>
              </a:ext>
            </a:extLst>
          </p:cNvPr>
          <p:cNvSpPr>
            <a:spLocks noGrp="1" noChangeArrowheads="1"/>
          </p:cNvSpPr>
          <p:nvPr>
            <p:ph idx="1"/>
          </p:nvPr>
        </p:nvSpPr>
        <p:spPr bwMode="auto">
          <a:xfrm>
            <a:off x="1484311" y="1892015"/>
            <a:ext cx="992771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Managing high-volume, multi-channel data with real-time performance needs.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Replacing legacy overnight ETL without disrupting ongoing operations.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Maintaining consistent deployments and data quality across AWS &amp; Azure.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Handling schema drift and ensuring reliable automated data quality checks.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Establishing full observability across pipelines and microservices.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Ensuring security, governance, and privacy in a real-time environment.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Coordinating multiple teams with different requirements and priorities.</a:t>
            </a:r>
          </a:p>
        </p:txBody>
      </p:sp>
    </p:spTree>
    <p:extLst>
      <p:ext uri="{BB962C8B-B14F-4D97-AF65-F5344CB8AC3E}">
        <p14:creationId xmlns:p14="http://schemas.microsoft.com/office/powerpoint/2010/main" val="4174822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C2DF5-8AA3-E5B0-B759-BB02F555EB6B}"/>
              </a:ext>
            </a:extLst>
          </p:cNvPr>
          <p:cNvSpPr>
            <a:spLocks noGrp="1"/>
          </p:cNvSpPr>
          <p:nvPr>
            <p:ph type="title"/>
          </p:nvPr>
        </p:nvSpPr>
        <p:spPr>
          <a:xfrm>
            <a:off x="1484311" y="685801"/>
            <a:ext cx="10018713" cy="848032"/>
          </a:xfrm>
        </p:spPr>
        <p:txBody>
          <a:bodyPr>
            <a:normAutofit/>
          </a:bodyPr>
          <a:lstStyle/>
          <a:p>
            <a:pPr algn="ctr"/>
            <a:r>
              <a:rPr lang="en-IN" sz="3600" dirty="0">
                <a:latin typeface="Times New Roman" panose="02020603050405020304" pitchFamily="18" charset="0"/>
                <a:cs typeface="Times New Roman" panose="02020603050405020304" pitchFamily="18" charset="0"/>
              </a:rPr>
              <a:t>Future Enhancements</a:t>
            </a:r>
            <a:endParaRPr lang="en-IN" sz="3600" dirty="0"/>
          </a:p>
        </p:txBody>
      </p:sp>
      <p:sp>
        <p:nvSpPr>
          <p:cNvPr id="4" name="Rectangle 1">
            <a:extLst>
              <a:ext uri="{FF2B5EF4-FFF2-40B4-BE49-F238E27FC236}">
                <a16:creationId xmlns:a16="http://schemas.microsoft.com/office/drawing/2014/main" id="{684CC02A-4868-0B94-F69F-0C30F3A9394F}"/>
              </a:ext>
            </a:extLst>
          </p:cNvPr>
          <p:cNvSpPr>
            <a:spLocks noGrp="1" noChangeArrowheads="1"/>
          </p:cNvSpPr>
          <p:nvPr>
            <p:ph idx="1"/>
          </p:nvPr>
        </p:nvSpPr>
        <p:spPr bwMode="auto">
          <a:xfrm>
            <a:off x="1484313" y="1589554"/>
            <a:ext cx="10235739"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AI-Driven Forecasting: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Integrate machine learning models for demand prediction, inventory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optimisation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personalised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Full Multi-Region Failover: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 active-active architecture for resilience during peak events 	like Black Friday.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Customer 360:</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Build a unified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profile to support hyper-</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personalised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marketing and customer journeys.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Anomaly Detection: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ML-based monitoring to auto-detect fraud, stock issues, or 	sudden sales spikes.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Self-Service Data Marketplace: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 business teams to discover, request, and use curated 	datasets without engineering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 Intelligence Layer: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Add real-time cost monitoring to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optimise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cloud spend across AWS and 	Azure.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Event-Driven Expansion: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Extend the streaming architecture to support more sources like IoT, 	logistics, and in-store devices.</a:t>
            </a:r>
          </a:p>
        </p:txBody>
      </p:sp>
    </p:spTree>
    <p:extLst>
      <p:ext uri="{BB962C8B-B14F-4D97-AF65-F5344CB8AC3E}">
        <p14:creationId xmlns:p14="http://schemas.microsoft.com/office/powerpoint/2010/main" val="201968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80B39-C213-8398-5D2E-7E49B0D94189}"/>
              </a:ext>
            </a:extLst>
          </p:cNvPr>
          <p:cNvSpPr>
            <a:spLocks noGrp="1"/>
          </p:cNvSpPr>
          <p:nvPr>
            <p:ph type="title"/>
          </p:nvPr>
        </p:nvSpPr>
        <p:spPr>
          <a:xfrm>
            <a:off x="1484311" y="685801"/>
            <a:ext cx="10018713" cy="779206"/>
          </a:xfrm>
        </p:spPr>
        <p:txBody>
          <a:bodyPr>
            <a:normAutofit/>
          </a:bodyPr>
          <a:lstStyle/>
          <a:p>
            <a:pPr algn="ctr"/>
            <a:r>
              <a:rPr lang="en-IN" sz="3600" dirty="0">
                <a:latin typeface="Times New Roman" panose="02020603050405020304" pitchFamily="18" charset="0"/>
                <a:cs typeface="Times New Roman" panose="02020603050405020304" pitchFamily="18" charset="0"/>
              </a:rPr>
              <a:t>Conclusion</a:t>
            </a:r>
            <a:endParaRPr lang="en-IN" sz="3600" dirty="0"/>
          </a:p>
        </p:txBody>
      </p:sp>
      <p:sp>
        <p:nvSpPr>
          <p:cNvPr id="3" name="Content Placeholder 2">
            <a:extLst>
              <a:ext uri="{FF2B5EF4-FFF2-40B4-BE49-F238E27FC236}">
                <a16:creationId xmlns:a16="http://schemas.microsoft.com/office/drawing/2014/main" id="{CA51EFB4-7820-1A9E-3578-ADACCCD67A50}"/>
              </a:ext>
            </a:extLst>
          </p:cNvPr>
          <p:cNvSpPr>
            <a:spLocks noGrp="1"/>
          </p:cNvSpPr>
          <p:nvPr>
            <p:ph idx="1"/>
          </p:nvPr>
        </p:nvSpPr>
        <p:spPr>
          <a:xfrm>
            <a:off x="1484311" y="1632155"/>
            <a:ext cx="8868004" cy="4159045"/>
          </a:xfrm>
        </p:spPr>
        <p:txBody>
          <a:bodyPr/>
          <a:lstStyle/>
          <a:p>
            <a:r>
              <a:rPr lang="en-US" dirty="0">
                <a:latin typeface="Times New Roman" panose="02020603050405020304" pitchFamily="18" charset="0"/>
                <a:cs typeface="Times New Roman" panose="02020603050405020304" pitchFamily="18" charset="0"/>
              </a:rPr>
              <a:t>This project successfully delivers a unified, real-time data platform that transforms how the </a:t>
            </a:r>
            <a:r>
              <a:rPr lang="en-US" dirty="0" err="1">
                <a:latin typeface="Times New Roman" panose="02020603050405020304" pitchFamily="18" charset="0"/>
                <a:cs typeface="Times New Roman" panose="02020603050405020304" pitchFamily="18" charset="0"/>
              </a:rPr>
              <a:t>organisation</a:t>
            </a:r>
            <a:r>
              <a:rPr lang="en-US" dirty="0">
                <a:latin typeface="Times New Roman" panose="02020603050405020304" pitchFamily="18" charset="0"/>
                <a:cs typeface="Times New Roman" panose="02020603050405020304" pitchFamily="18" charset="0"/>
              </a:rPr>
              <a:t> processes, analyses, and consumes ecommerce insights</a:t>
            </a:r>
            <a:r>
              <a:rPr lang="en-US">
                <a:latin typeface="Times New Roman" panose="02020603050405020304" pitchFamily="18" charset="0"/>
                <a:cs typeface="Times New Roman" panose="02020603050405020304" pitchFamily="18" charset="0"/>
              </a:rPr>
              <a:t>. </a:t>
            </a:r>
          </a:p>
          <a:p>
            <a:r>
              <a:rPr lang="en-US">
                <a:latin typeface="Times New Roman" panose="02020603050405020304" pitchFamily="18" charset="0"/>
                <a:cs typeface="Times New Roman" panose="02020603050405020304" pitchFamily="18" charset="0"/>
              </a:rPr>
              <a:t>By </a:t>
            </a:r>
            <a:r>
              <a:rPr lang="en-US" dirty="0" err="1">
                <a:latin typeface="Times New Roman" panose="02020603050405020304" pitchFamily="18" charset="0"/>
                <a:cs typeface="Times New Roman" panose="02020603050405020304" pitchFamily="18" charset="0"/>
              </a:rPr>
              <a:t>modernising</a:t>
            </a:r>
            <a:r>
              <a:rPr lang="en-US" dirty="0">
                <a:latin typeface="Times New Roman" panose="02020603050405020304" pitchFamily="18" charset="0"/>
                <a:cs typeface="Times New Roman" panose="02020603050405020304" pitchFamily="18" charset="0"/>
              </a:rPr>
              <a:t> legacy pipelines, enforcing strong data quality, and enabling multi-cloud scalability, the solution reduces decision latency, improves trust in analytics, and empowers teams with timely, accurate information. </a:t>
            </a:r>
          </a:p>
          <a:p>
            <a:r>
              <a:rPr lang="en-US" dirty="0">
                <a:latin typeface="Times New Roman" panose="02020603050405020304" pitchFamily="18" charset="0"/>
                <a:cs typeface="Times New Roman" panose="02020603050405020304" pitchFamily="18" charset="0"/>
              </a:rPr>
              <a:t>The architecture, governance model, and Data Engineering Manifesto together provide a reusable blueprint that </a:t>
            </a:r>
            <a:r>
              <a:rPr lang="en-US" dirty="0" err="1">
                <a:latin typeface="Times New Roman" panose="02020603050405020304" pitchFamily="18" charset="0"/>
                <a:cs typeface="Times New Roman" panose="02020603050405020304" pitchFamily="18" charset="0"/>
              </a:rPr>
              <a:t>organisations</a:t>
            </a:r>
            <a:r>
              <a:rPr lang="en-US" dirty="0">
                <a:latin typeface="Times New Roman" panose="02020603050405020304" pitchFamily="18" charset="0"/>
                <a:cs typeface="Times New Roman" panose="02020603050405020304" pitchFamily="18" charset="0"/>
              </a:rPr>
              <a:t> can adopt to accelerate their journey toward real-time digital commerce and data-driven decision-making at enterprise scale.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967258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112</TotalTime>
  <Words>1877</Words>
  <Application>Microsoft Office PowerPoint</Application>
  <PresentationFormat>Widescreen</PresentationFormat>
  <Paragraphs>92</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Times New Roman</vt:lpstr>
      <vt:lpstr>Trebuchet MS</vt:lpstr>
      <vt:lpstr>Wingdings 3</vt:lpstr>
      <vt:lpstr>Facet</vt:lpstr>
      <vt:lpstr>Ecommerce Data Pipeline for Real-Time KPI Intelligence</vt:lpstr>
      <vt:lpstr>Introduction</vt:lpstr>
      <vt:lpstr>Problem Statement</vt:lpstr>
      <vt:lpstr>Objectives</vt:lpstr>
      <vt:lpstr>System Overview</vt:lpstr>
      <vt:lpstr>Architecture Overview</vt:lpstr>
      <vt:lpstr>PowerPoint Presentation</vt:lpstr>
      <vt:lpstr>Key Services &amp; Technologies Used</vt:lpstr>
      <vt:lpstr>Workflow</vt:lpstr>
      <vt:lpstr>PowerPoint Presentation</vt:lpstr>
      <vt:lpstr>Data model</vt:lpstr>
      <vt:lpstr>Entity-Relationship Diagram</vt:lpstr>
      <vt:lpstr>Implementation Steps</vt:lpstr>
      <vt:lpstr>Results And Outputs</vt:lpstr>
      <vt:lpstr>Evaluation Metrics</vt:lpstr>
      <vt:lpstr>Challenges Faced</vt:lpstr>
      <vt:lpstr>Future Enhancements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Hemanth Dwarapudi</dc:creator>
  <cp:lastModifiedBy>Gaurav GAURAV CHUGH</cp:lastModifiedBy>
  <cp:revision>3</cp:revision>
  <dcterms:created xsi:type="dcterms:W3CDTF">2025-11-23T15:14:39Z</dcterms:created>
  <dcterms:modified xsi:type="dcterms:W3CDTF">2025-11-23T19:50:21Z</dcterms:modified>
</cp:coreProperties>
</file>